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54864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EDUCATION  PROGRAM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매니저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· 세일즈 가이드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AD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백화점 · 쇼룸 매니저를 위한 통합 플레이북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SLEEPER  ·  nooer  ·  Toddles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2  ·  그래서 잘 안내한다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TO 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가이드, 이렇게 활용하세요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13716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819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600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신입 온보딩 3주차 교재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1~3을 기본 교재로 활용.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주차별 학습 → 시험 → 단독 응대 자격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3931920" cy="13716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5819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77840" y="1600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즉시 사용 무기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20574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4~5는 응대·거절 처리 스크립트.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출근 후 10분, 응대 직전 빠른 복습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3931920" cy="13716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1363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워크샵 자료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6118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6 TOP 매니저 케이스로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1회 롤플레잉 세션 진행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971800"/>
            <a:ext cx="3931920" cy="13716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1363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7784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정기 업데이트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6118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분기마다 신제품·시즌·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베스트 사례 보강 후 재배포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 — 가이드는 "공부할 책"이 아니라 "꺼내 쓸 도구"입니다. 외우려 하지 말고, 필요할 때 찾으세요.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안내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응대 프로세스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0" y="1371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7863840" cy="0"/>
          </a:xfrm>
          <a:prstGeom prst="line">
            <a:avLst/>
          </a:prstGeom>
          <a:noFill/>
          <a:ln w="6350">
            <a:solidFill>
              <a:srgbClr val="DA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1783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스크립트 &amp; 거절 처리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0" y="1783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148840"/>
            <a:ext cx="7863840" cy="0"/>
          </a:xfrm>
          <a:prstGeom prst="line">
            <a:avLst/>
          </a:prstGeom>
          <a:noFill/>
          <a:ln w="6350">
            <a:solidFill>
              <a:srgbClr val="DAD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21945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매니저 케이스 (실명)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0" y="21945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560320"/>
            <a:ext cx="7863840" cy="0"/>
          </a:xfrm>
          <a:prstGeom prst="line">
            <a:avLst/>
          </a:prstGeom>
          <a:noFill/>
          <a:ln w="6350">
            <a:solidFill>
              <a:srgbClr val="DAD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606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0" y="26060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· KPI · 부록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72400" y="2606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2971800"/>
            <a:ext cx="7863840" cy="0"/>
          </a:xfrm>
          <a:prstGeom prst="line">
            <a:avLst/>
          </a:prstGeom>
          <a:noFill/>
          <a:ln w="6350">
            <a:solidFill>
              <a:srgbClr val="DAD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017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28800" y="3017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 실무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772400" y="3017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3383280"/>
            <a:ext cx="7863840" cy="0"/>
          </a:xfrm>
          <a:prstGeom prst="line">
            <a:avLst/>
          </a:prstGeom>
          <a:noFill/>
          <a:ln w="6350">
            <a:solidFill>
              <a:srgbClr val="DAD2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2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0"/>
            <a:ext cx="548640" cy="54864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응대 프로세스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AD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입장부터 클로징까지 — 5단계로 흐름을 잡으세요.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PERSONAS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매장에 들어오는 5가지 고객 유형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15544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63040"/>
            <a:ext cx="502920" cy="502920"/>
          </a:xfrm>
          <a:prstGeom prst="ellipse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463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결혼 준비형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737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"신혼 침대 보러 왔어요"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WHO  20대 후반~30대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부부 동반 90%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 스토리텔링 · 패브릭 침대 + 시그니처 매트리스 풀세트 제안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06040" cy="15544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463040"/>
            <a:ext cx="502920" cy="502920"/>
          </a:xfrm>
          <a:prstGeom prst="ellipse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23360" y="1463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이사 / 신축형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23360" y="1737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"방에 맞는 게 있을까요?"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WHO  다양 연령 · 공간 명확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8328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 방 사이즈·방향 먼저 묻기. 1:1 맞춤 강점 강조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35040" y="1325880"/>
            <a:ext cx="2606040" cy="15544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1463040"/>
            <a:ext cx="502920" cy="502920"/>
          </a:xfrm>
          <a:prstGeom prst="ellipse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12280" y="1463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건강·통증형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12280" y="1737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"허리가 안 좋아서…"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7220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WHO  40대 이상 · 단독 방문 多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7220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 전문가 모드 ON. 체압 분산·라텍스·고밀도 메모리폼 설명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017520"/>
            <a:ext cx="2606040" cy="15544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3154680"/>
            <a:ext cx="502920" cy="502920"/>
          </a:xfrm>
          <a:prstGeom prst="ellipse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34440" y="3154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쇼핑형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34440" y="3429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"시몬스도 보고 왔는데요"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WHO  정보 무장, 까다로움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436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 차이점 솔직 비교 · 1:1 맞춤 / 30일 트라이얼 USP 강조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46120" y="3017520"/>
            <a:ext cx="2606040" cy="15544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3280" y="3154680"/>
            <a:ext cx="502920" cy="502920"/>
          </a:xfrm>
          <a:prstGeom prst="ellipse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023360" y="3154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둘러보기형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023360" y="3429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"그냥 한 번 보러…"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83280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WHO  구매 의향 낮아 보이지만 잠재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38328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 압박 NO. 체험만 권유 · 명함·카탈로그 챙겨드리기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 — 5가지 유형 중 "E. 둘러보기형"이 사실 가장 큰 기회. 압박 없는 응대 + 명함은 재방문률을 가장 크게 높입니다.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페르소나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5-STEP PROCESS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응대 5단계 — 매장 표준 흐름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600200" cy="265176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600200"/>
            <a:ext cx="502920" cy="50292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3초 미소 · 3분 자율 · 가벼운 한 마디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편안한 첫인상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48840" y="1417320"/>
            <a:ext cx="1600200" cy="265176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1600200"/>
            <a:ext cx="502920" cy="50292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240280" y="2286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니즈 파악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40280" y="26517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 · 인원 · 자세 · 기간 4질문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40280" y="36118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고객을 이해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0" y="1417320"/>
            <a:ext cx="1600200" cy="265176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1600200"/>
            <a:ext cx="502920" cy="50292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931920" y="2286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31920" y="26517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매트리스 + 프레임 묶음 추천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31920" y="36118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선택지 좁히기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32120" y="1417320"/>
            <a:ext cx="1600200" cy="265176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1600200"/>
            <a:ext cx="502920" cy="50292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623560" y="2286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23560" y="26517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누워보기 · 토퍼 비교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23560" y="36118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감각으로 확신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23760" y="1417320"/>
            <a:ext cx="1600200" cy="265176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0" y="1600200"/>
            <a:ext cx="502920" cy="50292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315200" y="2286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클로징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315200" y="26517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옵션 확정 · 결제 · A/S 안내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0" y="36118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재방문·추천 약속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— 5단계는 "순서"이지만 정해진 시간이 없습니다. 단계 사이에 머무르는 시간이 신뢰를 결정합니다.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5단계 응대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FIRST 3 MINUTES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입장 3분 룰 — 첫 멘트 5종 세트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입장 즉시 달려가지 마세요. 3분간 자율 관람 → 매니저는 자연스럽게 동선 안에서 등장.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"천천히 둘러보세요. 마음 가시는 제품 있으면 한 번 누워보셔도 됩니다."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903720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권유 + 압박 제로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3317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"오늘 어떤 제품 보러 오셨어요? 신혼이세요, 이사세요?"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903720" y="2331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페르소나 1차 파악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2834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"날씨가 더운데 들어오시느라 고생하셨어요. 차 한 잔 드릴까요?"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90372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 형성 우선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33375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"부부 함께 오셨으니까 두 분 같이 누워보실 수 있는 모델 위주로 안내드릴게요."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903720" y="3337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동반자 인지 시 효과적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38404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"혹시 지금 쓰시는 침대에서 가장 불편하신 점 있으세요?"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903720" y="3840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니즈 파악 직진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A8413E">
              <a:alpha val="15000"/>
            </a:srgbClr>
          </a:solidFill>
          <a:ln w="6350">
            <a:solidFill>
              <a:srgbClr val="A841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41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  ·  "찾으시는 거 있으세요?" / "이게 잘 나가요" / "오늘만 할인이에요" — 첫 멘트로 가장 피해야 할 3대 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입장 3분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NEEDS DISCOVERY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니즈 파악 4질문 — 외워두세요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4가지만 자연스럽게 물어보면, 추천이 거의 정해집니다.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931920" cy="123444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947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"침실 방 크기는 어느 정도 되세요?"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670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사이즈(Q/K/LK) 결정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수납 침대 여부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828800"/>
            <a:ext cx="3931920" cy="123444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9240" y="1947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22860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"혼자 쓰세요, 같이 쓰세요?"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00600" y="2670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1인 vs 부부 모델 분기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모션 분리 중요도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3931920" cy="123444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91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3192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자세 · 불편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6576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"보통 어떤 자세로 주무세요? 어디 불편한 곳 있으세요?"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4041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매트리스 단단함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메모리폼/라텍스 분기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3200400"/>
            <a:ext cx="3931920" cy="123444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291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33192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주기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36576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"지금 침대는 몇 년 정도 쓰셨어요?"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4041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교체 시급도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감각 자연스럽게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4질문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TRY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체험(누워보기)을 부드럽게 유도하는 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침대 매장의 진실 — 누워본 고객의 구매 전환율이 안 누워본 고객의 3배.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691640" cy="411480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진입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40280" y="1783080"/>
            <a:ext cx="6446520" cy="4114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1783080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"먼저 한 번 누워보세요. 누워봐야 진짜 차이가 느껴지거든요."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1691640" cy="411480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86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중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40280" y="2286000"/>
            <a:ext cx="6446520" cy="4114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2286000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"두 모델 같은 자세로 30초씩 누워보세요. 몸이 알아요."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1691640" cy="411480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88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부부 동반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40280" y="2788920"/>
            <a:ext cx="6446520" cy="4114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2788920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"두 분 같이 누워보세요. 모션 분리도 직접 느끼실 수 있어요." (코인 데모)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1691640" cy="411480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918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주저할 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40280" y="3291840"/>
            <a:ext cx="6446520" cy="4114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3291840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"신발만 벗어두시면 돼요. 베개도 가져다 드릴게요."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1691640" cy="411480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94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40280" y="3794760"/>
            <a:ext cx="6446520" cy="4114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0" y="3794760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"어느 쪽이 더 편하셨어요? 어떤 느낌이 더 좋으셨어요?"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 — 체험 중에는 가급적 말을 줄이세요. 고객이 자기 몸의 신호를 듣는 시간입니다.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체험 유도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COUPLE SCENE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부부 동반 — 실전 응대 전략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사람을 한 명처럼 응대하면 실패. 한 명씩 "보이게" 응대하면 성공.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사람 모두에게 눈맞춤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0" y="17830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사람만 보지 말기. 번갈아가며 자연스럽게 시선·질문.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0"/>
          </a:xfrm>
          <a:prstGeom prst="line">
            <a:avLst/>
          </a:prstGeom>
          <a:noFill/>
          <a:ln w="6350">
            <a:solidFill>
              <a:srgbClr val="DA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86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의사결정자 파악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22860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초반 5분이면 누가 "실제 결정자"인지 보입니다. 그 사람에게 핵심 설명을 더.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8229600" cy="0"/>
          </a:xfrm>
          <a:prstGeom prst="line">
            <a:avLst/>
          </a:prstGeom>
          <a:noFill/>
          <a:ln w="6350">
            <a:solidFill>
              <a:srgbClr val="DA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88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사람 다 누워보게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27889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명만 누워서 결정 NO. 반드시 두 명 다 체험 → 자기 의견 말하게.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8229600" cy="0"/>
          </a:xfrm>
          <a:prstGeom prst="line">
            <a:avLst/>
          </a:prstGeom>
          <a:noFill/>
          <a:ln w="6350">
            <a:solidFill>
              <a:srgbClr val="DAD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91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868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서로의 의견 들어주기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0" y="32918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"아내 분은 어떠셨어요?", "남편 분이 좋아하시는 단단함은요?" 균형 잡힌 질문.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8229600" cy="0"/>
          </a:xfrm>
          <a:prstGeom prst="line">
            <a:avLst/>
          </a:prstGeom>
          <a:noFill/>
          <a:ln w="6350">
            <a:solidFill>
              <a:srgbClr val="DAD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94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6868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압박 NO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37947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"오늘 결정 안 하셔도 돼요. 두 분 더 얘기 나누고 오세요." 재방문률 높이는 안전한 멘트.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51960"/>
            <a:ext cx="8229600" cy="0"/>
          </a:xfrm>
          <a:prstGeom prst="line">
            <a:avLst/>
          </a:prstGeom>
          <a:noFill/>
          <a:ln w="6350">
            <a:solidFill>
              <a:srgbClr val="DAD2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부부 응대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2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0"/>
            <a:ext cx="548640" cy="54864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스크립트 &amp; 거절 처리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AD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망설이는 모든 순간을 위한 답이 여기 있습니다.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7 OBJECTIONS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자주 하는 거절 7가지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3258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"비싸요 / 예산이 그 정도는…"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0" y="13258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다음 페이지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830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7830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"좀 더 알아보고 올게요"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89520" y="17830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다음 페이지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822960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2402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2402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"온라인이 더 싸요"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589520" y="22402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다음 페이지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6974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26974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"남편/아내랑 상의해볼게요"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89520" y="26974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다음 페이지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822960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1546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1546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"다른 브랜드(시몬스, 에이스 등)도 보고 싶어요"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89520" y="31546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다음 페이지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611880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6118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36118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"이사할 때 다시 올게요"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89520" y="36118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다음 페이지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069080"/>
            <a:ext cx="822960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0690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88720" y="40690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"지금 쓰는 거 아직 멀쩡해요"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589520" y="40690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다음 페이지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거절 TOP 7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OBJECTION #1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"비싸요 / 예산이 그 정도는…"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가격을 깎지 마세요. 가치의 단위를 바꾸세요.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931920" cy="1371600"/>
          </a:xfrm>
          <a:prstGeom prst="rect">
            <a:avLst/>
          </a:prstGeom>
          <a:solidFill>
            <a:srgbClr val="FAF6EF"/>
          </a:solidFill>
          <a:ln w="12700">
            <a:solidFill>
              <a:srgbClr val="A84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41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NG  ·  이렇게는 NO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"많이 비싸진 않아요"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"이번 달 할인이라…"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가격 방어는 가격 인정. 더 깎아야 한다는 메시지만 줍니다.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3931920" cy="1371600"/>
          </a:xfrm>
          <a:prstGeom prst="rect">
            <a:avLst/>
          </a:prstGeom>
          <a:solidFill>
            <a:srgbClr val="F4EFE6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OK  ·  이렇게 답하세요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21945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"하루로 나누면 약 X백 원이세요. 8~10년 매일 8시간 쓰시니까요."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또는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침대는 8년 보증입니다. 매일 밤 좋은 잠을 보장받는 비용이라고 생각하시면 어떠세요?"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8229600" cy="123444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20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 ·  이 답이 통하는 이유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고가 제품은 "비교 단위"를 일 단위·시간 단위로 나누면 인식이 바뀝니다.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또한 "수면 = 건강 = 일·관계의 질"로 가치의 차원을 옮기면, "가격"이 아니라 "투자"로 보입니다.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 깎으려 하지 말고, 가치를 다시 설명하세요.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 · 거절 #1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OBJECTION #2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"좀 더 알아보고 올게요"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막지 마세요. 돌아올 이유를 만들어주세요.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931920" cy="1371600"/>
          </a:xfrm>
          <a:prstGeom prst="rect">
            <a:avLst/>
          </a:prstGeom>
          <a:solidFill>
            <a:srgbClr val="FAF6EF"/>
          </a:solidFill>
          <a:ln w="12700">
            <a:solidFill>
              <a:srgbClr val="A84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41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NG  ·  이렇게는 NO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"오늘만 가격이에요"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"지금 안 사시면…"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압박은 도망갈 명분만 줍니다. 거의 안 돌아옵니다.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3931920" cy="1371600"/>
          </a:xfrm>
          <a:prstGeom prst="rect">
            <a:avLst/>
          </a:prstGeom>
          <a:solidFill>
            <a:srgbClr val="F4EFE6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OK  ·  이렇게 답하세요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21945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"천천히 보세요. 그런데 오늘 누워본 모델 두 가지만 적어드릴게요. 나중에 비교하실 때 쉬워요."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명함 + 매장 카탈로그 챙겨드리기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8229600" cy="123444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20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 ·  이 답이 통하는 이유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"알아본다"는 것은 "아직 확신이 없다"는 신호입니다.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정보를 정리해주면, 다른 매장 가서도 "오가렌이 더 친절했네" 라는 기억이 남습니다.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TOP 매니저들의 재방문 클로징 비율은 30~40%. 떠나는 고객이 진짜 고객입니다.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 · 거절 #2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OBJECTION #3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"온라인이 더 싸요"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싸움을 하지 마세요. "체험의 가치"로 전환하세요.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931920" cy="1371600"/>
          </a:xfrm>
          <a:prstGeom prst="rect">
            <a:avLst/>
          </a:prstGeom>
          <a:solidFill>
            <a:srgbClr val="FAF6EF"/>
          </a:solidFill>
          <a:ln w="12700">
            <a:solidFill>
              <a:srgbClr val="A84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41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NG  ·  이렇게는 NO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"저희도 온라인 가격 맞춰드려요"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가격으로 시작한 거래는 가격으로 끝납니다. AS·재구매 안 옵니다.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3931920" cy="1371600"/>
          </a:xfrm>
          <a:prstGeom prst="rect">
            <a:avLst/>
          </a:prstGeom>
          <a:solidFill>
            <a:srgbClr val="F4EFE6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OK  ·  이렇게 답하세요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21945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"맞아요, 온라인이 저렴할 수도 있어요. 그런데 매트리스는 직접 누워보지 않으면 모르거든요.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누워보신 게 진짜 맞는 모델이라면, 저희 매장에서 사시는 게 가장 안전해요. A/S도 가까이서 받으시고요."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8229600" cy="123444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20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 ·  이 답이 통하는 이유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vs 오프라인은 가격 비교가 아니라 "리스크 비교"입니다.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8~10년 쓸 제품을 못 누워보고 사는 것의 리스크를 인지시키세요.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"내가 직접 봐드린다"는 인간적 신뢰의 가치를 강조하세요.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 · 거절 #3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OBJECTION #4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"남편/아내랑 상의해볼게요"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상의를 막지 말고, 상의가 잘되게 도와주세요.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931920" cy="1371600"/>
          </a:xfrm>
          <a:prstGeom prst="rect">
            <a:avLst/>
          </a:prstGeom>
          <a:solidFill>
            <a:srgbClr val="FAF6EF"/>
          </a:solidFill>
          <a:ln w="12700">
            <a:solidFill>
              <a:srgbClr val="A84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41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NG  ·  이렇게는 NO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"전화로 같이 통화해보시죠"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"오늘 같이 결정하시는 게 어때요"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결혼 생활을 모르는 것처럼 보입니다.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3931920" cy="1371600"/>
          </a:xfrm>
          <a:prstGeom prst="rect">
            <a:avLst/>
          </a:prstGeom>
          <a:solidFill>
            <a:srgbClr val="F4EFE6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OK  ·  이렇게 답하세요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21945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"네, 두 분이 같이 누워보셔야죠. 같이 한 번 더 오실 때까지 이 모델 빼두지 않을게요.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이거 한 장 챙겨가세요 — 두 모델 비교표예요. 상의하실 때 도움 되실 거예요."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8229600" cy="123444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20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 ·  이 답이 통하는 이유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"상의"를 말할 때는 결정권을 "같이" 행사하고 싶다는 신호입니다.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그걸 존중해 주는 매니저가 결국 두 번째 방문을 받습니다.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비교표·카탈로그를 챙겨주면, 집에서 상의할 때 우리 제품이 "기준"이 됩니다.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 · 거절 #4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OBJECTION #5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"다른 브랜드(시몬스 등)도 보고 싶어요"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경쟁사를 깎아내리지 마세요. 우리의 본질을 보여주세요.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931920" cy="1371600"/>
          </a:xfrm>
          <a:prstGeom prst="rect">
            <a:avLst/>
          </a:prstGeom>
          <a:solidFill>
            <a:srgbClr val="FAF6EF"/>
          </a:solidFill>
          <a:ln w="12700">
            <a:solidFill>
              <a:srgbClr val="A84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41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NG  ·  이렇게는 NO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"거기는 스프링이 별로예요"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"브랜드 마케팅만 비싸요"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경쟁사 비방은 자신감 부족으로 보입니다.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3931920" cy="1371600"/>
          </a:xfrm>
          <a:prstGeom prst="rect">
            <a:avLst/>
          </a:prstGeom>
          <a:solidFill>
            <a:srgbClr val="F4EFE6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OK  ·  이렇게 답하세요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21945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"좋은 생각이세요. 시몬스도 좋은 브랜드죠. 다만 저희 차이는 "1:1 맞춤"이에요. 시몬스는 기성 사이즈, 저희는 고객님 침실에 맞춰 만들어 드립니다. 그리고 누어 매트리스는 30일 트라이얼이 있어서 실패 부담이 없어요."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8229600" cy="123444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20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 ·  이 답이 통하는 이유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비교하겠다는 건 건강한 신호입니다. 막을 수 없고, 막을 필요도 없습니다.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 인정 → 우리 USP 한 줄(1:1 맞춤 / 30일 트라이얼 / 사후 케어) → "비교해 보고 결정하세요" 의 흐름이 가장 강력합니다.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자신감 있는 매니저만이 이렇게 답할 수 있습니다.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 · 거절 #5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OBJECTIONS #6, #7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이사 / 멀쩡함 — 거절 처리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64592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#6  "이사할 때 다시 올게요"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"이사 일정이 언제세요? 침대는 보통 이사 2~4주 전에 주문하셔야 입주일에 받으실 수 있어요.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결정 안 하셔도 되는데, 일정만 알려주시면 제가 챙겨서 연락드릴게요."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— "이사할 때 다시"는 90% 안 옵니다. 연락처를 얻고 능동적으로 추적하세요. CRM 입력 필수.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00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#7  "지금 쓰는 거 아직 멀쩡해요"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"몇 년 쓰셨어요? … 7년이면 거의 교체 시점이세요. 매트리스는 안 꺼져도 위생적으로 진드기·먼지가 누적되거든요.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 누어 든든 토퍼만 얹어도 완전히 다른 잠을 느끼세요. 매트리스 교체보다 부담 적고요."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— "멀쩡함"은 "바꿀 이유 없음"이 아니라 "바꿀 동기 부족". 위생·토퍼 업셀로 부드럽게 진입.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거절 #6 #7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클로징 — 마지막 한 마디 3종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96012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960120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확신 클로징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68880" y="1490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WHEN  고객이 거의 결정한 상태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60720" y="1490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선택지 좁히기 + 행동 유도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"두 모델 다 좋으셨는데, 부부 두 분에게는 시그니처가 더 맞을 것 같아요. 이걸로 주문 도와드릴까요?"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8229600" cy="96012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23160"/>
            <a:ext cx="73152" cy="960120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옵션 클로징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8880" y="2542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WHEN  결제 직전 마지막 제안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60720" y="2542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Yes/No가 아닌 A/B 선택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834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"매트리스만 가져가실래요, 토퍼·베개까지 침실 풀세트로 같이 가져가실래요?"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96012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74720"/>
            <a:ext cx="73152" cy="960120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클로징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68880" y="35935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WHEN  결정 망설일 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60720" y="3593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제로 명시 → 결정 부담 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38862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"오늘 결정 안 하셔도 돼요. 다만 30일 트라이얼이 있으니, 일주일 자보시고 안 맞으면 교환·환불 가능합니다."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 — 클로징은 "강요"가 아니라 "정리"입니다. 고객 머릿속에 흩어진 선택지를 매니저가 한 번에 묶어주는 일.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클로징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D2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0"/>
            <a:ext cx="548640" cy="54864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매니저 케이스 &amp; 모범 사례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AD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아닌 사람에게서 배우는 영업 — 우리 매장의 영웅들.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BEHAVIORS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매니저 7가지 행동 패턴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3258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554480"/>
            <a:ext cx="502920" cy="50292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듣는다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팔기보다 묻는다. 첫 5분은 질문만.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1920240" cy="13258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554480"/>
            <a:ext cx="502920" cy="50292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5176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공간을 묻는다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아닌 "방 크기"가 첫 질문.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1920240" cy="13258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0" y="1554480"/>
            <a:ext cx="502920" cy="50292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5488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체험을 만든다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누워보지 않은 고객은 안 산다.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66560" y="1371600"/>
            <a:ext cx="1920240" cy="13258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06640" y="1554480"/>
            <a:ext cx="502920" cy="50292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5800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부부를 분리한다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사람 따로 의견을 듣는다.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834640"/>
            <a:ext cx="1920240" cy="13258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" y="3017520"/>
            <a:ext cx="502920" cy="50292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8640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기록한다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3886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고객·관심 모델·연락처를 즉시 메모.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0" y="2834640"/>
            <a:ext cx="1920240" cy="13258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3017520"/>
            <a:ext cx="502920" cy="50292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651760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기다린다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651760" y="3886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압박 NO. 두 번째 방문을 만든다.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2834640"/>
            <a:ext cx="1920240" cy="13258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0" y="3017520"/>
            <a:ext cx="502920" cy="50292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754880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사후를 약속한다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54880" y="3886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배송·A/S·재방문 약속을 지킨다.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— 7가지 모두 한 줄로 묶으면 "고객을 존중한다"입니다. 기술이 아니라 태도가 본질입니다.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7가지 행동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CASE #1  ·  전국 1위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박은희 매니저 (롯데광주) — 시그니처 매출 비중 80%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43200" cy="338328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 실적 (3/1~3/10)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9436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시그니처 매출 비중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971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AD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매출  35,135,000원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시그니처  28,080,000원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703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오더 9건 중 8건이 시그니처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시그니처 10조 판매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83280" y="1280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전략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83280" y="1801368"/>
            <a:ext cx="164592" cy="164592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설명은 무조건 시그니처부터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83280" y="2212848"/>
            <a:ext cx="164592" cy="164592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2103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시그니처 특장점 집중 상담 진행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83280" y="2624328"/>
            <a:ext cx="164592" cy="164592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2514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순차적으로 하위 제품 설명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83280" y="3035808"/>
            <a:ext cx="164592" cy="164592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객단가는 곧 매장 매출과 연결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83280" y="3447288"/>
            <a:ext cx="164592" cy="164592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3337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제품 보고 온 고객 → 그 제품 설명 후, 다른 제품 언급 없이 시그니처 안내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83280" y="3858768"/>
            <a:ext cx="164592" cy="164592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체험형 방문 고객 → 시그니처부터 체험 유도 + 특장점 설명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83280" y="4270248"/>
            <a:ext cx="164592" cy="164592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4160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고객님과 체험 전 니즈 파악 및 공감대 형성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박은희 (롯데광주)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CASE #2  ·  전국 2위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한용진 매니저 (광주쇼룸) — 시그니처 매출 비중 48%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43200" cy="3383280"/>
          </a:xfrm>
          <a:prstGeom prst="rect">
            <a:avLst/>
          </a:prstGeom>
          <a:solidFill>
            <a:srgbClr val="8E6E47"/>
          </a:solidFill>
          <a:ln w="12700">
            <a:solidFill>
              <a:srgbClr val="8E6E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AF6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 실적 (3/1~3/10)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9436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6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시그니처 매출 비중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971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6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매출  50,155,000원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시그니처  24,240,000원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703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AF6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오더 16건 중 9건이 시그니처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AF6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시그니처 10조 판매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83280" y="1280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전략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83280" y="1801368"/>
            <a:ext cx="164592" cy="164592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입점 고객 질문 중심 상담 START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83280" y="2212848"/>
            <a:ext cx="164592" cy="164592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2103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사용 매트리스의 불편 포인트 파악 필수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83280" y="2624328"/>
            <a:ext cx="164592" cy="164592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2514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착와감 · 수면 스타일 확인 필수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83280" y="3035808"/>
            <a:ext cx="164592" cy="164592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시그니처 스프링 구조 차이 설명 강력 필수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83280" y="3447288"/>
            <a:ext cx="164592" cy="164592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3337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고객님 1순위·2순위 제품 재체험을 통한 확신감 부여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83280" y="3858768"/>
            <a:ext cx="164592" cy="164592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시그니처 모델부터 체험 → 상위 모델 장점 안내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83280" y="4270248"/>
            <a:ext cx="164592" cy="164592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4160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지지력과 안락함은 별개라는 점 강조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한용진 (광주쇼룸)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UP-SELLING PROCESS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시그니처 매트리스 업셀링 — 본사 표준 5단계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일방적 권유 NO. 고객이 "체험을 통해 스스로 선택하게" 하는 5단계 표준 프로세스.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50292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847088"/>
            <a:ext cx="292608" cy="292608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7830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니즈 파악 &amp; 라포 형성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06908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전, 수면 습관 · 매트리스 교체 이유 · 수면 시 불편 사항 파악 → 공감대 형성 → 자연스러운 수면 컨설팅 환경 조성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441448"/>
            <a:ext cx="292608" cy="292608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41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3774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모델 중심 체험 진행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069080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매트리스 모델부터 안내 → 고객이 편안함과 지지력을 먼저 경험 → 이후 비교 체험으로 매트리스별 차이 자연 인지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50292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035808"/>
            <a:ext cx="292608" cy="292608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035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9718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중심 비교 설명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069080" y="2971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누워보고 체감하도록 유도 → 매트리스별 지지력·쿠션감·체형 분산 차이를 경험 → 설명이 아닌 체험 기반 선택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822960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630168"/>
            <a:ext cx="292608" cy="292608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630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5661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수면 체감 포인트 설명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069080" y="3566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허리 지지력 · 어깨 체형 분산 · 뒤척임 감소 등 수면 시 체감 포인트 중심 설명 → 매일 · 장기 사용 강조하여 가치 이해 높임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4224528"/>
            <a:ext cx="292608" cy="292608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224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41605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베스트 모델 안내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069080" y="4160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매장에서 가장 많이 판매되는 베스트 모델 안내 → 신뢰도 향상 → 자연스러운 상위 모델 선택 유도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— 본사 데일리 SV 세일즈톡 표준 프로세스 (3월 업셀링편)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시그니처 5단계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BENCHMARK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 매장별 시그니처 판매 — 너의 위치는?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43200" cy="338328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 전체 (3/1~3/10)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매출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648,438,608원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시그니처 매출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190,598,500원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3017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시그니처 비중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200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94360" y="39319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INSIGHT — 시그니처 체험 중심 매장은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비중 평균 70%+. 프리미엄 기준 체험으로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전환율 상승.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0" y="12801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매장별 시그니처 비중 TOP 10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0" y="1645920"/>
            <a:ext cx="5303520" cy="274320"/>
          </a:xfrm>
          <a:prstGeom prst="rect">
            <a:avLst/>
          </a:prstGeom>
          <a:solidFill>
            <a:srgbClr val="FAF6EF"/>
          </a:solidFill>
          <a:ln w="3810">
            <a:solidFill>
              <a:srgbClr val="DAD2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645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3192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롯데광주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0" y="1645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83280" y="1947672"/>
            <a:ext cx="5303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AD2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947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31920" y="1947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AK수원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72400" y="19476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83280" y="2249424"/>
            <a:ext cx="5303520" cy="274320"/>
          </a:xfrm>
          <a:prstGeom prst="rect">
            <a:avLst/>
          </a:prstGeom>
          <a:solidFill>
            <a:srgbClr val="FAF6EF"/>
          </a:solidFill>
          <a:ln w="3810">
            <a:solidFill>
              <a:srgbClr val="DAD2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2494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31920" y="22494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AK분당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72400" y="22494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83280" y="2551176"/>
            <a:ext cx="5303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AD2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5511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31920" y="25511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광주쇼룸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72400" y="25511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83280" y="2852928"/>
            <a:ext cx="5303520" cy="274320"/>
          </a:xfrm>
          <a:prstGeom prst="rect">
            <a:avLst/>
          </a:prstGeom>
          <a:solidFill>
            <a:srgbClr val="FAF6EF"/>
          </a:solidFill>
          <a:ln w="3810">
            <a:solidFill>
              <a:srgbClr val="DAD2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931920" y="2852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울산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772400" y="28529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383280" y="3154680"/>
            <a:ext cx="5303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AD2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0" y="3154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93192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롯데광복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772400" y="3154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43%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383280" y="3456432"/>
            <a:ext cx="5303520" cy="274320"/>
          </a:xfrm>
          <a:prstGeom prst="rect">
            <a:avLst/>
          </a:prstGeom>
          <a:solidFill>
            <a:srgbClr val="FAF6EF"/>
          </a:solidFill>
          <a:ln w="3810">
            <a:solidFill>
              <a:srgbClr val="DAD2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0" y="34564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931920" y="3456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772400" y="34564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43%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383280" y="3758184"/>
            <a:ext cx="5303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AD2C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0" y="37581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931920" y="3758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롯데동탄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772400" y="37581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41%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383280" y="4059936"/>
            <a:ext cx="5303520" cy="274320"/>
          </a:xfrm>
          <a:prstGeom prst="rect">
            <a:avLst/>
          </a:prstGeom>
          <a:solidFill>
            <a:srgbClr val="FAF6EF"/>
          </a:solidFill>
          <a:ln w="3810">
            <a:solidFill>
              <a:srgbClr val="DAD2C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0" y="40599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931920" y="4059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신세계타임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772400" y="40599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39%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383280" y="4361688"/>
            <a:ext cx="5303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AD2C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4720" y="4361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931920" y="4361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롯데대구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772400" y="43616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36%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— 본사 데일리 SV 세일즈톡 (3월호) · 매장별 데이터 매월 공유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매장별 벤치마크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MONTHLY UPDATE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데일리 SV 세일즈톡 — 본사 월간 업데이트 활용법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가이드는 "상시 매뉴얼". 본사가 매월 발행하는 "데일리 SV 세일즈톡"은 "이번 달 캠페인". 둘이 한 세트입니다.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371600" cy="36576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74520" y="1783080"/>
            <a:ext cx="3474720" cy="36576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세일즈 가이드 (상시)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94960" y="1783080"/>
            <a:ext cx="3383280" cy="36576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데일리 SV 세일즈톡 (월간)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1371600" cy="45720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74520" y="2148840"/>
            <a:ext cx="3474720" cy="45720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1회 개정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4960" y="2148840"/>
            <a:ext cx="3383280" cy="45720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148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매월 발행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1371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74520" y="2606040"/>
            <a:ext cx="347472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65960" y="2606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기본기 · 응대 표준 · 거절 처리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· 배송 · TOP 케이스 표준화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94960" y="2606040"/>
            <a:ext cx="338328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그달의 매장별 실 데이터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실명 TOP 사례 · 월간 캠페인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1371600" cy="45720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063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3063240"/>
            <a:ext cx="3474720" cy="45720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65960" y="3063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35장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94960" y="3063240"/>
            <a:ext cx="3383280" cy="45720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3063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3~5장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520440"/>
            <a:ext cx="13716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3520440"/>
            <a:ext cx="347472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65960" y="3520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신입 온보딩 + 매일 참조용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94960" y="3520440"/>
            <a:ext cx="338328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0" y="3520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1회 회독 + 캠페인 드라이브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977640"/>
            <a:ext cx="1371600" cy="45720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977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3977640"/>
            <a:ext cx="3474720" cy="45720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65960" y="3977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라미네이트 · 매장 비치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394960" y="3977640"/>
            <a:ext cx="3383280" cy="45720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3977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메신저 · 캘린더 알림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4348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매니저 행동 — 매월 첫 영업일 데일리 SV 세일즈톡 받으면 5분 안에 읽고, TOP 매장 사례 1개 자기 매장에 적용해보세요.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월간 업데이트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BEST LINES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매니저들이 실제로 쓰는 멘트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6858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685800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"먼저 한 번 누워보세요. 누워봐야 진짜 차이가 느껴지거든요."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17720" y="1371600"/>
            <a:ext cx="3931920" cy="6858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17720" y="1371600"/>
            <a:ext cx="54864" cy="685800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37160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"하루로 나누면 약 X백 원이세요. 8년 동안 매일 좋은 잠 사시는 거예요."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3931920" cy="6858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48840"/>
            <a:ext cx="54864" cy="685800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14884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"두 분 같이 누워보세요. 모션 분리도 느끼실 수 있어요."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2148840"/>
            <a:ext cx="3931920" cy="6858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2148840"/>
            <a:ext cx="54864" cy="685800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14884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"이사 일정만 알려주시면 제가 챙겨서 연락드릴게요."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3931920" cy="6858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26080"/>
            <a:ext cx="54864" cy="685800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2608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"매트리스만 가져가실래요, 침실 풀세트로 같이 가져가실래요?"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2926080"/>
            <a:ext cx="3931920" cy="6858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2926080"/>
            <a:ext cx="54864" cy="685800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92608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"오늘 결정 안 하셔도 돼요. 30일 트라이얼 있어서 한 번 자보시고 결정하세요."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3931920" cy="6858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703320"/>
            <a:ext cx="54864" cy="685800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70332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"제가 케어 가이드 한 장 정리해서 같이 챙겨드릴게요."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3703320"/>
            <a:ext cx="3931920" cy="6858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3703320"/>
            <a:ext cx="54864" cy="685800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70332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"두 분이 같이 다시 한 번 누워보고 가세요. 같은 모델 빼두지 않을게요."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이 8개 멘트를 자기 말로 다시 적어 외워두세요. 매장 즉시 사용 가능한 "현장 무기"입니다.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베스트 멘트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SELF-CHECK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매니저 자기 진단 체크리스트 — 매일 30초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마감 후, 이 10가지를 자신에게 물어보세요. 7개 이상 YES면 좋은 하루입니다.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 오늘 고객의 "공간"을 물었는가?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920240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8288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 오늘 부부 두 사람 모두에게 눈을 맞췄는가?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423160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3317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 오늘 누워보게 한 고객이 절반 이상인가?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423160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3317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04.  오늘 명함·카탈로그를 챙겨준 고객이 있는가?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926080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8346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  오늘 가격 깎으려 하지 않았는가?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8346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06.  오늘 거절한 고객에게 부드럽게 답했는가?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429000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3375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07.  오늘 토퍼·베개·침구 업셀을 시도했는가?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429000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3375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08.  오늘 고객 이름·연락처를 CRM에 입력했는가?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931920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8404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09.  오늘 케어·A/S 안내를 빠뜨리지 않았는가?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931920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8404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 오늘 "좋은 잠 보내세요" 인사로 마무리했는가?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자기 진단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D2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0"/>
            <a:ext cx="548640" cy="54864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· KPI · 부록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AD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팔고 끝이 아닙니다 — 사후가 진짜 시작입니다.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POST-SALE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이후 — 진짜 관계의 시작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13716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2606040" cy="41148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3258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인사 카톡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"구매 감사드려요. 배송 일정 다시 안내드릴게요"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06040" cy="13716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325880"/>
            <a:ext cx="2606040" cy="41148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325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0" y="13258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 전 안내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 일자 확인 + 사전 준비사항 안내 (공간 정리, 기존 침대 처리)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2606040" cy="13716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325880"/>
            <a:ext cx="2606040" cy="41148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325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D+14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95160" y="13258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점검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18288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"매트리스 잘 맞으세요? 처음 일주일이 가장 적응 중요해요"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2606040" cy="13716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834640"/>
            <a:ext cx="2606040" cy="41148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834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D+30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28346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30일 트라이얼 체크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3375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누어 매트리스의 경우 만족도 확인, 필요시 교환 안내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2834640"/>
            <a:ext cx="2606040" cy="13716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2834640"/>
            <a:ext cx="2606040" cy="41148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2834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D+180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06240" y="28346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요청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29000" y="33375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오늘의집·네이버 리뷰 부드럽게 요청 + 케어 팁 재안내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2834640"/>
            <a:ext cx="2606040" cy="13716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2834640"/>
            <a:ext cx="2606040" cy="41148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2834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D+365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95160" y="28346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1주년 안부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0" y="33375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"1년 잘 쓰셨어요? 토퍼 교체 시점도 챙겨드릴게요"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재구매·추천 고객은 신규 고객 획득 비용의 1/5. CRM은 매장 매니저의 "개인 자산"입니다.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사후 관리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MANAGER KPI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매니저 자기 KPI — 월간 자기 점검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737360" cy="41148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94560" y="1325880"/>
            <a:ext cx="2103120" cy="41148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1325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325880"/>
            <a:ext cx="1554480" cy="41148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325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(예시)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1325880"/>
            <a:ext cx="2834640" cy="41148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3258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중요한가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737360"/>
            <a:ext cx="173736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7373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→ 체험률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194560" y="1737360"/>
            <a:ext cx="210312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17373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방문자 중 누워본 비율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0" y="1737360"/>
            <a:ext cx="155448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1737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70%+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52160" y="1737360"/>
            <a:ext cx="283464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17373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= 구매 결정의 핵심 트리거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121408"/>
            <a:ext cx="1737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1214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→ 견적률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194560" y="2121408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0" y="21214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고객 중 견적 받은 비율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2121408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21214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50%+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852160" y="2121408"/>
            <a:ext cx="2834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1214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심도 있는 컨설팅 지표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2505456"/>
            <a:ext cx="173736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50545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 → 구매율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194560" y="2505456"/>
            <a:ext cx="210312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0" y="25054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 고객 중 실제 구매 비율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297680" y="2505456"/>
            <a:ext cx="155448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0" y="25054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30%+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852160" y="2505456"/>
            <a:ext cx="283464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250545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클로징·재방문 관리 지표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2889504"/>
            <a:ext cx="1737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28895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객단가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194560" y="2889504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0" y="28895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1건당 평균 매출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297680" y="2889504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0" y="28895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본사 목표 +α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852160" y="2889504"/>
            <a:ext cx="2834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0" y="28895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업셀·풀세트 능력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7200" y="3273552"/>
            <a:ext cx="173736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32735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옵션 부착률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194560" y="3273552"/>
            <a:ext cx="210312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0" y="32735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토퍼·베개 등 동시 구매율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297680" y="3273552"/>
            <a:ext cx="155448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89120" y="32735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40%+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852160" y="3273552"/>
            <a:ext cx="283464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43600" y="32735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매트리스 아닌 "침실" 제안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57200" y="3657600"/>
            <a:ext cx="1737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3657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재방문률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194560" y="3657600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86000" y="3657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1개월 내 재방문 비율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297680" y="3657600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0" y="3657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20%+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852160" y="3657600"/>
            <a:ext cx="2834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43600" y="3657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압박 NO, 신뢰 응대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57200" y="4041648"/>
            <a:ext cx="173736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40416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리뷰 점수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194560" y="4041648"/>
            <a:ext cx="210312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286000" y="40416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후 리뷰 평점/건수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297680" y="4041648"/>
            <a:ext cx="155448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89120" y="40416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4.7/5+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5852160" y="4041648"/>
            <a:ext cx="2834640" cy="384048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943600" y="40416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매장 평판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— 본사는 분기마다 매니저별 KPI 대시보드 제공. 1:1 코칭은 분기 1회 정례.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KPI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CUSTOMER FAQ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가장 많이 묻는 질문 TOP 10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50292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716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매트리스 단단함은 어떻게 골라요?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17720" y="1371600"/>
            <a:ext cx="3931920" cy="50292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3716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66360" y="13716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메모리폼이 여름에 덥지 않나요?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3931920" cy="50292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116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0116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사이즈가 방에 들어갈까요?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17720" y="2011680"/>
            <a:ext cx="3931920" cy="50292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0116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66360" y="20116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배송·설치는 얼마나 걸려요?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3931920" cy="50292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6517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6517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기존 매트리스 처분도 해주나요?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17720" y="2651760"/>
            <a:ext cx="3931920" cy="50292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6517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66360" y="26517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보증 기간이 어떻게 되나요?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3931920" cy="50292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2918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32918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토퍼는 꼭 필요한가요?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17720" y="3291840"/>
            <a:ext cx="3931920" cy="50292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2918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66360" y="32918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1:1 맞춤은 추가 비용이 있나요?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3931920" cy="50292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9319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05840" y="39319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30일 트라이얼 환불 절차는?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617720" y="3931920"/>
            <a:ext cx="3931920" cy="50292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9319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66360" y="39319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매트리스 회전·세탁은 어떻게?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본사 매니저 채널에서 "FAQ Top 30 상세 답변집" 별도 배포. 응대 중 모르는 질문은 절대 답하지 말고 "확인 후 안내"하세요.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FAQ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HQ SUPPORT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본사 지원 채널 — 막힐 때 바로 연락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13716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고객센터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1644-4766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평일 10:00~18:00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(점심 12:30~14:00)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417320"/>
            <a:ext cx="2606040" cy="13716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554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A/S 신청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1874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2240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보증·A/S 신청서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별도 제공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606040" cy="13716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554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 메일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1874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ogaren_cs@ogaren.com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2240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응대 관련 문의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케이스 공유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606040" cy="13716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063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제휴·기업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383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contact@ogaren.com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749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B2B·기업 거래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쇼룸 대량 문의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926080"/>
            <a:ext cx="2606040" cy="13716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3063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자료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29000" y="3383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본사 매니저 카톡 채널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29000" y="3749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신상품·프로모션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업데이트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2926080"/>
            <a:ext cx="2606040" cy="13716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3063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교육·코칭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3383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정기 워크샵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0" y="3749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롤플레잉·신제품 교육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1:1 코칭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본사 지원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D2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0"/>
            <a:ext cx="548640" cy="54864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 실무 가이드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AD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"이거 우리 집에 들어와요?" — 매니저가 즉시 답하는 배송 체크리스트.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ELEVATOR GUIDE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엘리베이터 사이즈 × 매트리스 반입 기준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매장에서 가장 자주 묻는 질문 — "우리 집에 들어와요?" 엘리베이터 인승을 먼저 확인하세요.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377440" cy="41148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엘리베이터 인승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80360" y="1737360"/>
            <a:ext cx="3108960" cy="41148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1737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반입 사이즈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737360"/>
            <a:ext cx="2743200" cy="41148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2377440" cy="45720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8인승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80360" y="2148840"/>
            <a:ext cx="3108960" cy="45720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2148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 (슈퍼싱글)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148840"/>
            <a:ext cx="2743200" cy="45720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1인용 표준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237744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11인승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880360" y="2606040"/>
            <a:ext cx="31089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· K (퀸 · 킹)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2606040"/>
            <a:ext cx="27432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부부 표준 — 가장 보편적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2377440" cy="45720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16인승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880360" y="3063240"/>
            <a:ext cx="3108960" cy="45720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7180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LK (라지킹)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3063240"/>
            <a:ext cx="2743200" cy="457200"/>
          </a:xfrm>
          <a:prstGeom prst="rect">
            <a:avLst/>
          </a:prstGeom>
          <a:solidFill>
            <a:srgbClr val="FAF6E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3063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대형 평수 · 프리미엄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520440"/>
            <a:ext cx="237744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18인승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880360" y="3520440"/>
            <a:ext cx="31089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71800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EK (이스턴킹)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35040" y="3520440"/>
            <a:ext cx="27432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AD2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3520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특수 사이즈 · 사전 확인 필수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069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주의 — 인승 같아도 실제 규격 상이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43708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엘리베이터 인증이 동일하더라도 내부 크기·출입문 너비 등 실제 규격에 따라 반입 가능 여부가 다를 수 있습니다.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확인 안내: "고객님, 엘리베이터 내부 가로·세로·출입문 너비를 알려주시면 더 정확히 안내드릴 수 있어요."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 · 엘리베이터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STAIRS · LIFT · WINDOW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엘리베이터 안 되면? — 계단 · 사다리차 · 창문탈거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32004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2606040" cy="50292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계단 배송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12801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STAIRS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029968"/>
            <a:ext cx="91440" cy="9144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202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 2만원 · 추가 층당 1만원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414016"/>
            <a:ext cx="91440" cy="9144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3042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복층 시 추가 작업비 2만원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798064"/>
            <a:ext cx="91440" cy="9144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6883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규격 이상의 가로폭 확보 필요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182112"/>
            <a:ext cx="91440" cy="9144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07238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협소 시 천장 높이도 확보 필요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91440" cy="9144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4564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직선형만 가능 · ㄱ자/ㄴ자 제한 있음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950208"/>
            <a:ext cx="91440" cy="9144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8404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5층까지 가능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1280160"/>
            <a:ext cx="2606040" cy="32004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1280160"/>
            <a:ext cx="2606040" cy="50292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1280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사다리차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74920" y="12801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LADDER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29000" y="2029968"/>
            <a:ext cx="91440" cy="9144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19202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직접 호출 (사용료 고객 부담)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29000" y="2414016"/>
            <a:ext cx="91440" cy="9144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23042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 호출 시 콜 비용 추가 (서울 기준)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29000" y="2798064"/>
            <a:ext cx="91440" cy="9144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11880" y="26883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엘리베이터·계단 모두 불가 시 필수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29000" y="3182112"/>
            <a:ext cx="91440" cy="9144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11880" y="307238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복도 진입 불가 시에도 필요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29000" y="3566160"/>
            <a:ext cx="91440" cy="9144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11880" y="34564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거부로 회수 시 왕복비 고객 부담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35040" y="1280160"/>
            <a:ext cx="2606040" cy="3200400"/>
          </a:xfrm>
          <a:prstGeom prst="rect">
            <a:avLst/>
          </a:prstGeom>
          <a:solidFill>
            <a:srgbClr val="FAF6EF"/>
          </a:solidFill>
          <a:ln w="6350">
            <a:solidFill>
              <a:srgbClr val="DAD2C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35040" y="1280160"/>
            <a:ext cx="2606040" cy="50292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1280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창문 탈거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863840" y="12801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17920" y="2029968"/>
            <a:ext cx="91440" cy="9144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19202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사다리차로 발코니·거실 창 반입 시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17920" y="2414016"/>
            <a:ext cx="91440" cy="9144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23042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창문 폭이 제품 규격보다 좁을 때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17920" y="2798064"/>
            <a:ext cx="91440" cy="9144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26883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이중창·안정창·통창은 탈거 없이 어려움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17920" y="3182112"/>
            <a:ext cx="91440" cy="91440"/>
          </a:xfrm>
          <a:prstGeom prst="ellipse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307238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협의 필요 (별도 비용 발생 가능)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solidFill>
            <a:srgbClr val="A8413E">
              <a:alpha val="15000"/>
            </a:srgbClr>
          </a:solidFill>
          <a:ln w="6350">
            <a:solidFill>
              <a:srgbClr val="A8413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45720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41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판단 — 현장 구조·건물 규정·주차 환경에 따라 가능 범위 상이. 배송 기사 현장 판단이 최종입니다.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 · 계단·사다리차·탈거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OHOUSE TRACKING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오늘의집 배송 조회 — 송장상태 7가지 해독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"제 침대 어디까지 왔어요?" 물으면, 매니저는 즉시 송장상태로 답해야 합니다.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377440" cy="2926080"/>
          </a:xfrm>
          <a:prstGeom prst="rect">
            <a:avLst/>
          </a:prstGeom>
          <a:solidFill>
            <a:srgbClr val="2D2926"/>
          </a:solidFill>
          <a:ln w="12700">
            <a:solidFill>
              <a:srgbClr val="2D29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방법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주문 → 주문조회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4414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필터값 설정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7340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유사검색/일치검색 선택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026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송장상태 확인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3192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배송완료 사진/서명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9044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주문상세 → 상세보기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41970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상단 사진보기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1752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송장상태 — 의미 한눈에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17520" y="2011680"/>
            <a:ext cx="5669280" cy="310896"/>
          </a:xfrm>
          <a:prstGeom prst="rect">
            <a:avLst/>
          </a:prstGeom>
          <a:solidFill>
            <a:srgbClr val="FAF6EF"/>
          </a:solidFill>
          <a:ln w="3810">
            <a:solidFill>
              <a:srgbClr val="DAD2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7520" y="2011680"/>
            <a:ext cx="73152" cy="310896"/>
          </a:xfrm>
          <a:prstGeom prst="rect">
            <a:avLst/>
          </a:prstGeom>
          <a:solidFill>
            <a:srgbClr val="A8413E"/>
          </a:solidFill>
          <a:ln w="12700">
            <a:solidFill>
              <a:srgbClr val="A841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20116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주소오류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49240" y="201168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카카오맵 미조회 — 주소 수정 필요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017520" y="2377440"/>
            <a:ext cx="5669280" cy="310896"/>
          </a:xfrm>
          <a:prstGeom prst="rect">
            <a:avLst/>
          </a:prstGeom>
          <a:solidFill>
            <a:srgbClr val="FAF6EF"/>
          </a:solidFill>
          <a:ln w="3810">
            <a:solidFill>
              <a:srgbClr val="DAD2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0" y="2377440"/>
            <a:ext cx="73152" cy="310896"/>
          </a:xfrm>
          <a:prstGeom prst="rect">
            <a:avLst/>
          </a:prstGeom>
          <a:solidFill>
            <a:srgbClr val="8E867C"/>
          </a:solidFill>
          <a:ln w="12700">
            <a:solidFill>
              <a:srgbClr val="8E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3774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처리중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49240" y="237744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전산 처리 중 (5분 이상이면 문의)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017520" y="2743200"/>
            <a:ext cx="5669280" cy="310896"/>
          </a:xfrm>
          <a:prstGeom prst="rect">
            <a:avLst/>
          </a:prstGeom>
          <a:solidFill>
            <a:srgbClr val="FAF6EF"/>
          </a:solidFill>
          <a:ln w="3810">
            <a:solidFill>
              <a:srgbClr val="DAD2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7520" y="2743200"/>
            <a:ext cx="73152" cy="310896"/>
          </a:xfrm>
          <a:prstGeom prst="rect">
            <a:avLst/>
          </a:prstGeom>
          <a:solidFill>
            <a:srgbClr val="A8413E"/>
          </a:solidFill>
          <a:ln w="12700">
            <a:solidFill>
              <a:srgbClr val="A841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27432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재고없음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349240" y="274320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미할당 — 가용재고 확인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017520" y="3108960"/>
            <a:ext cx="5669280" cy="310896"/>
          </a:xfrm>
          <a:prstGeom prst="rect">
            <a:avLst/>
          </a:prstGeom>
          <a:solidFill>
            <a:srgbClr val="FAF6EF"/>
          </a:solidFill>
          <a:ln w="3810">
            <a:solidFill>
              <a:srgbClr val="DAD2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17520" y="3108960"/>
            <a:ext cx="73152" cy="310896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31089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접수대기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349240" y="310896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등록 · 담당자 처리 예정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017520" y="3474720"/>
            <a:ext cx="5669280" cy="310896"/>
          </a:xfrm>
          <a:prstGeom prst="rect">
            <a:avLst/>
          </a:prstGeom>
          <a:solidFill>
            <a:srgbClr val="FAF6EF"/>
          </a:solidFill>
          <a:ln w="3810">
            <a:solidFill>
              <a:srgbClr val="DAD2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3474720"/>
            <a:ext cx="73152" cy="310896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0" y="34747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접수완료/스케줄확정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349240" y="347472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할당 완료 · 지정일 배송 예정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017520" y="3840480"/>
            <a:ext cx="5669280" cy="310896"/>
          </a:xfrm>
          <a:prstGeom prst="rect">
            <a:avLst/>
          </a:prstGeom>
          <a:solidFill>
            <a:srgbClr val="FAF6EF"/>
          </a:solidFill>
          <a:ln w="3810">
            <a:solidFill>
              <a:srgbClr val="DAD2C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17520" y="3840480"/>
            <a:ext cx="73152" cy="310896"/>
          </a:xfrm>
          <a:prstGeom prst="rect">
            <a:avLst/>
          </a:prstGeom>
          <a:solidFill>
            <a:srgbClr val="8E6E47"/>
          </a:solidFill>
          <a:ln w="12700">
            <a:solidFill>
              <a:srgbClr val="8E6E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38404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배송중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349240" y="384048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기사님 배송 중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017520" y="4206240"/>
            <a:ext cx="5669280" cy="310896"/>
          </a:xfrm>
          <a:prstGeom prst="rect">
            <a:avLst/>
          </a:prstGeom>
          <a:solidFill>
            <a:srgbClr val="FAF6EF"/>
          </a:solidFill>
          <a:ln w="3810">
            <a:solidFill>
              <a:srgbClr val="DAD2C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17520" y="4206240"/>
            <a:ext cx="73152" cy="310896"/>
          </a:xfrm>
          <a:prstGeom prst="rect">
            <a:avLst/>
          </a:prstGeom>
          <a:solidFill>
            <a:srgbClr val="8E6E47"/>
          </a:solidFill>
          <a:ln w="12700">
            <a:solidFill>
              <a:srgbClr val="8E6E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0" y="42062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배송완료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349240" y="420624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4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· 사진/고객서명 확인 가능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6E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 — 주문승인은 지정일 -1일 오전 11시 이전. 배송일정상담 의뢰 건은 임시로 지정일 "2099년" 표시, 해피콜 후 변경됩니다.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 · 오늘의집 조회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20040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OGAREN  ·  SLEEPER  ·  nooer  ·  Toddles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D2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54864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CLOSING  ·  우리의 약속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잠은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매니저에서 시작됩니다.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AD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고객은 침대를 사러 오는 것이 아니라, 인생의 3분의 1을 결정하러 옵니다.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DAD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결정의 가장 가까이 서 있는 사람이 바로 우리입니다.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B89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SLEEPER  ·  nooer  ·  Toddles  ·  OGAREN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6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Edition 2.1  ·  인증·안전성·배송 실무 보강판  ·  오가렌 경영기획본부  ·  www.sleeper.co.kr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주식회사 오가렌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오가렌 매장 매니저 교육·세일즈 가이드 v2.0</dc:title>
  <dc:subject>PptxGenJS Presentation</dc:subject>
  <dc:creator>오가렌 경영기획본부</dc:creator>
  <cp:lastModifiedBy>오가렌 경영기획본부</cp:lastModifiedBy>
  <cp:revision>1</cp:revision>
  <dcterms:created xsi:type="dcterms:W3CDTF">2026-05-21T13:56:54Z</dcterms:created>
  <dcterms:modified xsi:type="dcterms:W3CDTF">2026-05-21T13:56:54Z</dcterms:modified>
</cp:coreProperties>
</file>